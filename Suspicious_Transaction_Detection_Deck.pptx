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48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548640"/>
            <a:ext cx="2926080" cy="2926080"/>
          </a:xfrm>
          <a:prstGeom prst="ellipse">
            <a:avLst/>
          </a:prstGeom>
          <a:solidFill>
            <a:srgbClr val="26308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064240" y="457200"/>
            <a:ext cx="1463040" cy="14630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HACKATHON 2026  ·  FINANCIAL CRIME &amp; TRANSACTION MONITORING CHALLENGE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Suspicious Transaction Detection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EDA to a Validated Fraud Classifier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840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 God we trust; all others must bring data.”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2245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W. Edwards Deming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Shap Shifters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303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~630,000 synthetic mobile money transactions (10% sample of a 6.3M-row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PaySim-style simulation), calibrated against real African financial services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Mobile Money Operators Are Missing Fraud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February 2023, FATF greylisted South Africa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 because banks and mobile money operators weren't doing enough to detect and report suspicious transactions. Every major mobile money operator now needs stronger transaction monitoring.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6035040" cy="292608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Toolkit's 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“Using transaction-level data, build a system that identifies potentially fraudulent transactions, and explains what makes flagged transactions anomalous. Build a classifier that identifies fraudulent transactions, and present how your findings are essential for a banking institution.”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818120" y="14630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7680960" y="1709928"/>
            <a:ext cx="16459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630K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0" y="2286000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analysed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18120" y="3063240"/>
            <a:ext cx="1371600" cy="13716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680960" y="3310128"/>
            <a:ext cx="16459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0.13%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98080" y="3886200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actually fraud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18120" y="466344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680960" y="4910328"/>
            <a:ext cx="16459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0.24%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98080" y="5486400"/>
            <a:ext cx="2011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the mobile money operator's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Realistic, Extremely Imbalanced Dataset</a:t>
            </a:r>
            <a:endParaRPr lang="en-US" sz="2800" dirty="0"/>
          </a:p>
        </p:txBody>
      </p:sp>
      <p:pic>
        <p:nvPicPr>
          <p:cNvPr id="3" name="Image 0" descr="/home/claude/report_build/eda_images/cell_9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384048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37760" y="1508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Received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937760" y="196596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636,262 transactions,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types: CASH_IN, CASH_OUT, DEBIT, PAYMENT, TRANSFER
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849 confirmed fraud cases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(0.133%) - no missing values, no duplicates
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isFlaggedFraud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mobile money operator's existing rule-based flag, included for comparison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37760" y="3794760"/>
            <a:ext cx="6583680" cy="18745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5166360" y="3977640"/>
            <a:ext cx="6126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0.13% fraud, a model predicting “not fraud” every time scores 99.87% accuracy while catching zero fraud. Every result in this deck is judged on precision, recall, and F1 - not accuracy.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Lives in Just Two Transaction Types</a:t>
            </a:r>
            <a:endParaRPr lang="en-US" sz="2800" dirty="0"/>
          </a:p>
        </p:txBody>
      </p:sp>
      <p:pic>
        <p:nvPicPr>
          <p:cNvPr id="3" name="Image 0" descr="/home/claude/report_build/eda_images/cell_1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71600"/>
            <a:ext cx="9052560" cy="34381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029200"/>
            <a:ext cx="9052560" cy="123444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868680" y="518464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fraud case is a TRANSFER (432) or CASH_OUT (417).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CASH_IN, and DEBIT carry zero fraud despite high volume - so both monitoring and modelling can focus on just these two types.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Fraud Signature: Bigger Amounts, Emptied Accounts</a:t>
            </a:r>
            <a:endParaRPr lang="en-US" sz="2800" dirty="0"/>
          </a:p>
        </p:txBody>
      </p:sp>
      <p:pic>
        <p:nvPicPr>
          <p:cNvPr id="3" name="Image 0" descr="/home/claude/report_build/eda_images/cell_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943600" cy="2249424"/>
          </a:xfrm>
          <a:prstGeom prst="rect">
            <a:avLst/>
          </a:prstGeom>
        </p:spPr>
      </p:pic>
      <p:pic>
        <p:nvPicPr>
          <p:cNvPr id="4" name="Image 1" descr="/home/claude/report_build/eda_images/cell_1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417320"/>
            <a:ext cx="2331720" cy="230428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281160" y="155448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2"/>
          <p:cNvSpPr/>
          <p:nvPr/>
        </p:nvSpPr>
        <p:spPr>
          <a:xfrm>
            <a:off x="9144000" y="1776679"/>
            <a:ext cx="1508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6x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8961120" y="2295144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median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amount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10652760" y="1554480"/>
            <a:ext cx="1234440" cy="1234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5"/>
          <p:cNvSpPr/>
          <p:nvPr/>
        </p:nvSpPr>
        <p:spPr>
          <a:xfrm>
            <a:off x="10515600" y="1776679"/>
            <a:ext cx="1508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97.3%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0332720" y="2295144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fully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empties the account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57200" y="3977640"/>
            <a:ext cx="11292840" cy="21031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8"/>
          <p:cNvSpPr/>
          <p:nvPr/>
        </p:nvSpPr>
        <p:spPr>
          <a:xfrm>
            <a:off x="685800" y="4160520"/>
            <a:ext cx="10835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fraud transaction (R429,257) is roughly 6x the median legitimate one (R74,407) - useful, but not sufficient alone. </a:t>
            </a: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 stronger signal: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 of fraud fully empties the sender's account, versus only 23.9% of legitimate transactions. This single, explainable pattern - stated to an auditor in one sentence - turned out to be the strongest predictor in the entire project, confirmed independently later by our machine learning model's own feature importance ranking (Slide 9).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Caveat: Not Every Zero Balance Is Suspicious</a:t>
            </a:r>
            <a:endParaRPr lang="en-US" sz="2800" dirty="0"/>
          </a:p>
        </p:txBody>
      </p:sp>
      <p:pic>
        <p:nvPicPr>
          <p:cNvPr id="3" name="Image 0" descr="/home/claude/report_build/eda_images/cell_2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8595360" cy="2651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464040" y="1645920"/>
            <a:ext cx="1417320" cy="14173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9326880" y="1901038"/>
            <a:ext cx="1691640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0" y="2496312"/>
            <a:ext cx="20574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balances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(EDA)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4251960"/>
            <a:ext cx="10881360" cy="187452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777240" y="4416552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</a:t>
            </a: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~210,000 transactions (33%) show a starting sender balance of zero that never moves at all - a balance-logging artifact, not fraud (zero fraud cases appear here). </a:t>
            </a: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during modelling: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broader, independent check for balance-arithmetic inconsistency during model development found ~63% of the dataset affected - corroborating the EDA's finding from a different angle. Either way: flag it, don't drop it, and fix logging upstream.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Signals Actually Predict Fraud?</a:t>
            </a:r>
            <a:endParaRPr lang="en-US" sz="2800" dirty="0"/>
          </a:p>
        </p:txBody>
      </p:sp>
      <p:pic>
        <p:nvPicPr>
          <p:cNvPr id="3" name="Image 0" descr="/home/claude/report_build/eda_images/cell_2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5120640" cy="4507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by correlation with isFraud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92240" y="201168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origin_zeroed &amp; errorBalanceOrig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two strongest predictors, well ahead of raw amount
</a:t>
            </a: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fields correlate with each other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reminder to watch for redundant features when modelling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92240" y="4297680"/>
            <a:ext cx="4937760" cy="155448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6675120" y="44348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confirms the balance-draining pattern carries more signal than amount alone - the right foundation for both the rule-based flag and the machine learning model that follows.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Does Fraud Happen?</a:t>
            </a:r>
            <a:endParaRPr lang="en-US" sz="2800" dirty="0"/>
          </a:p>
        </p:txBody>
      </p:sp>
      <p:pic>
        <p:nvPicPr>
          <p:cNvPr id="3" name="Image 0" descr="/home/claude/report_build/eda_images/cell_3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9052560" cy="34381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074920"/>
            <a:ext cx="9052560" cy="123444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868680" y="523036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spikes during quiet overnight hours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overall traffic - a smaller number of overnight frauds makes up a larger share of that hour's transactions. A real-time system may need a lower alert threshold overnight than during the day.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Model Actually Rely On?</a:t>
            </a:r>
            <a:endParaRPr lang="en-US" sz="2800" dirty="0"/>
          </a:p>
        </p:txBody>
      </p:sp>
      <p:pic>
        <p:nvPicPr>
          <p:cNvPr id="3" name="Image 0" descr="/home/claude/report_build/model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280160"/>
            <a:ext cx="512064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665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Feature Ranking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766560" y="19659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is_full_drain (26.8%) + newbalanceOrig (26.4%) </a:t>
            </a: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over half the model's decision-making weight
</a:t>
            </a: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corroborates the EDA's balance-draining finding </a:t>
            </a: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(Slide 5) - from a completely independent analytical path
</a:t>
            </a: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type_DEBIT and type_PAYMENT </a:t>
            </a: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lowest and were dropped - consistent with fraud never occurring in those types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vs. XGBoost — Test Set Results</a:t>
            </a:r>
            <a:endParaRPr lang="en-US" sz="2800" dirty="0"/>
          </a:p>
        </p:txBody>
      </p:sp>
      <p:pic>
        <p:nvPicPr>
          <p:cNvPr id="3" name="Image 0" descr="/home/claude/report_build/model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58368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06640" y="141732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2"/>
          <p:cNvSpPr/>
          <p:nvPr/>
        </p:nvSpPr>
        <p:spPr>
          <a:xfrm>
            <a:off x="7269480" y="1639519"/>
            <a:ext cx="1508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1/170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86600" y="2157984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missed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823960" y="1417320"/>
            <a:ext cx="1234440" cy="12344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686800" y="1639519"/>
            <a:ext cx="1508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0/170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503920" y="2157984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missed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(XGBoost)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241280" y="141732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10104120" y="1639519"/>
            <a:ext cx="150876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127K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921240" y="2157984"/>
            <a:ext cx="1874520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4343400"/>
            <a:ext cx="10881360" cy="1965960"/>
          </a:xfrm>
          <a:prstGeom prst="rect">
            <a:avLst/>
          </a:prstGeom>
          <a:solidFill>
            <a:srgbClr val="F5F7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777240" y="45262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score above 0.99 precision and recall on the fraud class. </a:t>
            </a:r>
            <a:r>
              <a:rPr lang="en-US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0 false alarms, 1 missed fraud. XGBoost: 2 false alarms, 0 missed fraud. Compare that to the mobile money operator's current system, which catches just 2 of 849 fraud cases (0.24%) system-wide.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Necessary Reality Check, Then Our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754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777240" y="15727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Scores This High Deserve Scrutiny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converge on one clean, almost deterministic pattern (balance-draining). That suggests the near-perfect scores reflect how separable this synthetic dataset is, not model sophistication. Real fraudsters adapt once a pattern is known - live performance should be expected to be materially lower than this upper-bound result.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26480" y="1572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0" y="19659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two-layer system: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rule alongside the ML model, live before full model validation
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the current rule-based flag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- 0.24% detection is not a meaningful control
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balance logging upstream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33-63% affected segment; monitor it separately in the meantime
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Favour recall over precision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missed fraud costs far more than a false alarm
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flagged transaction before customer-facing 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Blockchain-Based Solution: Overall Approach</a:t>
            </a:r>
            <a:endParaRPr lang="en-US" sz="2800" dirty="0"/>
          </a:p>
        </p:txBody>
      </p:sp>
      <p:sp>
        <p:nvSpPr>
          <p:cNvPr id="3" name="Shape"/>
          <p:cNvSpPr/>
          <p:nvPr/>
        </p:nvSpPr>
        <p:spPr>
          <a:xfrm>
            <a:off x="548640" y="1417320"/>
            <a:ext cx="5349240" cy="4754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 dirty="0"/>
          </a:p>
        </p:txBody>
      </p:sp>
      <p:sp>
        <p:nvSpPr>
          <p:cNvPr id="4" name="Text"/>
          <p:cNvSpPr/>
          <p:nvPr/>
        </p:nvSpPr>
        <p:spPr>
          <a:xfrm>
            <a:off x="777240" y="15727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Solution</a:t>
            </a:r>
            <a:endParaRPr lang="en-US" sz="1600" dirty="0"/>
          </a:p>
        </p:txBody>
      </p:sp>
      <p:sp>
        <p:nvSpPr>
          <p:cNvPr id="5" name="Text"/>
          <p:cNvSpPr/>
          <p:nvPr/>
        </p:nvSpPr>
        <p:spPr>
          <a:xfrm>
            <a:off x="777240" y="219456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blockchain: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banks, mobile money operators, and approved regulators - not a public, anonymous network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stay central: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customer accounts, compliance, and dispute resolution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Tamper-resistant record: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 transaction and fraud alert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agreed rules without removing human oversight</a:t>
            </a:r>
            <a:endParaRPr lang="en-US" sz="1600" dirty="0"/>
          </a:p>
        </p:txBody>
      </p:sp>
      <p:sp>
        <p:nvSpPr>
          <p:cNvPr id="6" name="Text"/>
          <p:cNvSpPr/>
          <p:nvPr/>
        </p:nvSpPr>
        <p:spPr>
          <a:xfrm>
            <a:off x="6126480" y="1572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Accommodating the Elderly</a:t>
            </a:r>
            <a:endParaRPr lang="en-US" sz="1600" dirty="0"/>
          </a:p>
        </p:txBody>
      </p:sp>
      <p:sp>
        <p:nvSpPr>
          <p:cNvPr id="7" name="Text"/>
          <p:cNvSpPr/>
          <p:nvPr/>
        </p:nvSpPr>
        <p:spPr>
          <a:xfrm>
            <a:off x="6126480" y="19659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familiar channels: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USSD, ATM, branch, and agent-assisted service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design: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fonts, simple menus, local languages, voice guidance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support: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family members assist through controlled, revocable authorization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infrastructure: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runs in the background - no technical knowledge required to use the service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Contracts, Accessibility &amp; Security</a:t>
            </a:r>
            <a:endParaRPr lang="en-US" sz="2800" dirty="0"/>
          </a:p>
        </p:txBody>
      </p:sp>
      <p:sp>
        <p:nvSpPr>
          <p:cNvPr id="3" name="Shape"/>
          <p:cNvSpPr/>
          <p:nvPr/>
        </p:nvSpPr>
        <p:spPr>
          <a:xfrm>
            <a:off x="548640" y="1417320"/>
            <a:ext cx="5349240" cy="4754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"/>
          <p:cNvSpPr/>
          <p:nvPr/>
        </p:nvSpPr>
        <p:spPr>
          <a:xfrm>
            <a:off x="777240" y="1572768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Smart Contract?</a:t>
            </a:r>
            <a:endParaRPr lang="en-US" dirty="0"/>
          </a:p>
        </p:txBody>
      </p:sp>
      <p:sp>
        <p:nvSpPr>
          <p:cNvPr id="5" name="Text"/>
          <p:cNvSpPr/>
          <p:nvPr/>
        </p:nvSpPr>
        <p:spPr>
          <a:xfrm>
            <a:off x="777240" y="219456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Self-executing program: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 the blockchain, applying predefined rules automatically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exceeding a risk threshold is paused and sent for extra verification</a:t>
            </a: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transparent: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delays while creating a clear audit trail</a:t>
            </a:r>
            <a:endParaRPr lang="en-US" sz="1600" dirty="0"/>
          </a:p>
        </p:txBody>
      </p:sp>
      <p:sp>
        <p:nvSpPr>
          <p:cNvPr id="6" name="Text"/>
          <p:cNvSpPr/>
          <p:nvPr/>
        </p:nvSpPr>
        <p:spPr>
          <a:xfrm>
            <a:off x="6126480" y="1572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Accessibility and Security</a:t>
            </a:r>
            <a:endParaRPr lang="en-US" dirty="0"/>
          </a:p>
        </p:txBody>
      </p:sp>
      <p:sp>
        <p:nvSpPr>
          <p:cNvPr id="7" name="Text"/>
          <p:cNvSpPr/>
          <p:nvPr/>
        </p:nvSpPr>
        <p:spPr>
          <a:xfrm>
            <a:off x="6126480" y="19659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interfaces, multiple channels, assisted support, low-data options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multi-factor authentication, transaction monitoring, immutable records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controls: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transactions stay easy; suspicious ones get stronger checks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customers who cannot complete digital verification independently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African Legal &amp; Regulatory Compliance</a:t>
            </a:r>
            <a:endParaRPr lang="en-US" sz="2800" dirty="0"/>
          </a:p>
        </p:txBody>
      </p:sp>
      <p:sp>
        <p:nvSpPr>
          <p:cNvPr id="3" name="Text"/>
          <p:cNvSpPr/>
          <p:nvPr/>
        </p:nvSpPr>
        <p:spPr>
          <a:xfrm>
            <a:off x="548640" y="1417320"/>
            <a:ext cx="534924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Legislation</a:t>
            </a:r>
            <a:endParaRPr lang="en-US" sz="1600" dirty="0"/>
          </a:p>
        </p:txBody>
      </p:sp>
      <p:sp>
        <p:nvSpPr>
          <p:cNvPr id="4" name="Text"/>
          <p:cNvSpPr/>
          <p:nvPr/>
        </p:nvSpPr>
        <p:spPr>
          <a:xfrm>
            <a:off x="548640" y="1900000"/>
            <a:ext cx="534924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monitor, identify, and report suspicious transactions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POPIA: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personal information lawfully, protect privacy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Act: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banks manage risk, maintain governance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Payment System Act: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for mobile money and payment transactions</a:t>
            </a:r>
            <a:endParaRPr lang="en-US" sz="1600" dirty="0"/>
          </a:p>
        </p:txBody>
      </p:sp>
      <p:sp>
        <p:nvSpPr>
          <p:cNvPr id="5" name="Text"/>
          <p:cNvSpPr/>
          <p:nvPr/>
        </p:nvSpPr>
        <p:spPr>
          <a:xfrm>
            <a:off x="6126480" y="1417320"/>
            <a:ext cx="539496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Standards &amp; Governance</a:t>
            </a:r>
            <a:endParaRPr lang="en-US" sz="1600" dirty="0"/>
          </a:p>
        </p:txBody>
      </p:sp>
      <p:sp>
        <p:nvSpPr>
          <p:cNvPr id="6" name="Text"/>
          <p:cNvSpPr/>
          <p:nvPr/>
        </p:nvSpPr>
        <p:spPr>
          <a:xfrm>
            <a:off x="6126480" y="1900000"/>
            <a:ext cx="5394960" cy="4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Cybercrimes Act: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systems and data from cyber-enabled fraud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Credit Act: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impact of flagged transactions on credit access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recommendations: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controls with international AML standards</a:t>
            </a:r>
            <a:r>
              <a:rPr lang="en-US" sz="16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IV: </a:t>
            </a:r>
            <a:r>
              <a:rPr lang="en-US" sz="16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governance, accountability, and responsible tech use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Outcome</a:t>
            </a:r>
            <a:endParaRPr lang="en-US" sz="2800" dirty="0"/>
          </a:p>
        </p:txBody>
      </p:sp>
      <p:sp>
        <p:nvSpPr>
          <p:cNvPr id="3" name="Shape"/>
          <p:cNvSpPr/>
          <p:nvPr/>
        </p:nvSpPr>
        <p:spPr>
          <a:xfrm>
            <a:off x="640080" y="1417320"/>
            <a:ext cx="10881360" cy="4754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"/>
          <p:cNvSpPr/>
          <p:nvPr/>
        </p:nvSpPr>
        <p:spPr>
          <a:xfrm>
            <a:off x="914400" y="1737360"/>
            <a:ext cx="10241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remain central </a:t>
            </a: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customer service and regulatory accountability.</a:t>
            </a: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customers keep their channels, </a:t>
            </a: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additional caregiver and human-review support.</a:t>
            </a: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improve speed, consistency, and traceability </a:t>
            </a: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fraud controls.</a:t>
            </a: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strengthens trust, security, and compliance </a:t>
            </a: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mobile money ecosystem.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Suspicious Transaction Detection  |  DSC Hackathon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solidFill>
            <a:srgbClr val="161C4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combined a thorough exploratory analysis with two supervised machine learning models to address the DSC Hackathon's Suspicious Transaction Detection challenge. Fraud in this dataset is concentrated in TRANSFER and CASH_OUT transactions, dominated by a single explainable balance-draining pattern, and almost entirely missed by the mobile money operator's existing rule-based system. Both Random Forest and XGBoost, trained on features that capture this pattern, achieve precision and recall above 0.99 on held-out data - a result we present with appropriate scientific caution given the synthetic, non-adversarial nature of the dataset.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6118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our business recommendations, this gives our mobile money partner a concrete, data-driven path to materially improving on a current detection rate of 0.24% - directly answering the transaction-monitoring standard the FATF greylisting requires South African banks and mobile money operators to meet.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Shifters  |  DSC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1638</Words>
  <Application>Microsoft Office PowerPoint</Application>
  <PresentationFormat>Widescreen</PresentationFormat>
  <Paragraphs>124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Tawonaishe Kubvoruno</cp:lastModifiedBy>
  <cp:revision>2</cp:revision>
  <dcterms:created xsi:type="dcterms:W3CDTF">2026-07-26T04:35:00Z</dcterms:created>
  <dcterms:modified xsi:type="dcterms:W3CDTF">2026-07-26T06:19:12Z</dcterms:modified>
</cp:coreProperties>
</file>